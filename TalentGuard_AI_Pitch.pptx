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7028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029200" y="-457200"/>
            <a:ext cx="4572000" cy="621792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B6CA8">
              <a:alpha val="15000"/>
            </a:srgbClr>
          </a:solidFill>
          <a:ln w="12700">
            <a:solidFill>
              <a:srgbClr val="1B6CA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TalentGuard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Prévenir le turnover avec une IA responsable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3246120"/>
            <a:ext cx="13716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34290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3AC"/>
                </a:solidFill>
              </a:rPr>
              <a:t>Hackathon Trusted AI x RH  ·  Capgemini x ESILV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93AC"/>
                </a:solidFill>
              </a:rPr>
              <a:t>16 – 17 mars 2026  ·  Axes : Cybersécurité + Éthique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14630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5760" y="4297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A5E9"/>
                </a:solidFill>
              </a:rPr>
              <a:t>🔒 Cybersécurité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4297680"/>
            <a:ext cx="12801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920240" y="4297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⚖️ Éthique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11887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rgbClr val="000000"/>
                </a:solidFill>
              </a:rPr>
              <a:t>🛡️</a:t>
            </a:r>
            <a:endParaRPr lang="en-US" sz="9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</a:rPr>
              <a:t>Le problème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2697480" cy="320040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26974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📉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</a:rPr>
              <a:t>Turnover élevé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3AC"/>
                </a:solidFill>
              </a:rPr>
              <a:t>33% des employés du dataset ont quitté l'entreprise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896112"/>
            <a:ext cx="2697480" cy="320040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46120" y="896112"/>
            <a:ext cx="2697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46120" y="10972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🔍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383280" y="1965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</a:rPr>
              <a:t>Causes inconnues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51460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3AC"/>
                </a:solidFill>
              </a:rPr>
              <a:t>Les RH manquent d'outils pour anticiper les départs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896112"/>
            <a:ext cx="2697480" cy="320040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172200" y="896112"/>
            <a:ext cx="26974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172200" y="10972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⚖️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</a:rPr>
              <a:t>Risques légaux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51460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3AC"/>
                </a:solidFill>
              </a:rPr>
              <a:t>RGPD, EU AI Act : les données RH sont ultra-sensibles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42519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</a:rPr>
              <a:t>→ Notre solution : TalentGuard AI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</a:rPr>
              <a:t>Notre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1920240" cy="2651760"/>
          </a:xfrm>
          <a:prstGeom prst="rect">
            <a:avLst/>
          </a:prstGeom>
          <a:solidFill>
            <a:srgbClr val="1A2E45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🔒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</a:rPr>
              <a:t>Anonymisation RGPD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40280" y="17830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A93AC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23160" y="896112"/>
            <a:ext cx="1920240" cy="2651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514600" y="9601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14600" y="2011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</a:rPr>
              <a:t>Modèle ML Random Forest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43400" y="17830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A93AC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26280" y="896112"/>
            <a:ext cx="1920240" cy="2651760"/>
          </a:xfrm>
          <a:prstGeom prst="rect">
            <a:avLst/>
          </a:prstGeom>
          <a:solidFill>
            <a:srgbClr val="1A2E4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617720" y="9601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628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⚖️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17720" y="2011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</a:rPr>
              <a:t>Audit Fairness AIF360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17830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A93AC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629400" y="896112"/>
            <a:ext cx="1920240" cy="2651760"/>
          </a:xfrm>
          <a:prstGeom prst="rect">
            <a:avLst/>
          </a:prstGeom>
          <a:solidFill>
            <a:srgbClr val="1A2E45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720840" y="9601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720840" y="2011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</a:rPr>
              <a:t>Dashboard Streamlit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93AC"/>
                </a:solidFill>
              </a:rPr>
              <a:t>Stack technique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069080"/>
            <a:ext cx="1572768" cy="347472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20040" y="40690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A5E9"/>
                </a:solidFill>
              </a:rPr>
              <a:t>Python 3.10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039112" y="4069080"/>
            <a:ext cx="1572768" cy="347472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039112" y="40690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A5E9"/>
                </a:solidFill>
              </a:rPr>
              <a:t>scikit-learn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58184" y="4069080"/>
            <a:ext cx="1572768" cy="347472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758184" y="40690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A5E9"/>
                </a:solidFill>
              </a:rPr>
              <a:t>SHAP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77256" y="4069080"/>
            <a:ext cx="1572768" cy="347472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477256" y="40690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A5E9"/>
                </a:solidFill>
              </a:rPr>
              <a:t>AIF360 (IBM)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196328" y="4069080"/>
            <a:ext cx="1572768" cy="347472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7196328" y="40690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A5E9"/>
                </a:solidFill>
              </a:rPr>
              <a:t>Streamlit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9144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A5E9"/>
                </a:solidFill>
              </a:rPr>
              <a:t>🔒  AXE CYBERSÉCURITÉ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93AC"/>
                </a:solidFill>
              </a:rPr>
              <a:t>Personne 3 — ~2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1920240" cy="155448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1920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🗑️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</a:rPr>
              <a:t>Suppression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933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3AC"/>
                </a:solidFill>
              </a:rPr>
              <a:t>Noms, Manager supprimés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1051560"/>
            <a:ext cx="1920240" cy="155448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468880" y="1051560"/>
            <a:ext cx="1920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468880" y="11155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60320" y="16276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</a:rPr>
              <a:t>Pseudonymisation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19933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3AC"/>
                </a:solidFill>
              </a:rPr>
              <a:t>EmpID → hash SHA-256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0" y="1051560"/>
            <a:ext cx="1920240" cy="155448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617720" y="1051560"/>
            <a:ext cx="1920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617720" y="11155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709160" y="16276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</a:rPr>
              <a:t>Généralisation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19933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3AC"/>
                </a:solidFill>
              </a:rPr>
              <a:t>DOB → tranche d'âge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66560" y="1051560"/>
            <a:ext cx="1920240" cy="155448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766560" y="1051560"/>
            <a:ext cx="1920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766560" y="11155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🎭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858000" y="16276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</a:rPr>
              <a:t>Masquage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19933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3AC"/>
                </a:solidFill>
              </a:rPr>
              <a:t>Zip → 2 premiers chiffres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788920"/>
            <a:ext cx="8503920" cy="1051560"/>
          </a:xfrm>
          <a:prstGeom prst="rect">
            <a:avLst/>
          </a:prstGeom>
          <a:solidFill>
            <a:srgbClr val="1A1040"/>
          </a:solidFill>
          <a:ln w="12700">
            <a:solidFill>
              <a:srgbClr val="5B21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</a:rPr>
              <a:t>🇪🇺  EU AI Act — Classification HAUT RISQUE (Annexe III)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3AC"/>
                </a:solidFill>
              </a:rPr>
              <a:t>Obligations appliquées : </a:t>
            </a:r>
            <a:r>
              <a:rPr lang="en-US" sz="1000" dirty="0">
                <a:solidFill>
                  <a:srgbClr val="F0F4F8"/>
                </a:solidFill>
              </a:rPr>
              <a:t>supervision humaine obligatoire  ·  traçabilité  ·  audit fairness régulier  ·  droit à l'explication (SHAP)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39776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EA5E9"/>
                </a:solidFill>
              </a:rPr>
              <a:t>Sex, RaceDesc, GenderID exclus du modèle — conservés uniquement pour l'audit fairness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914400"/>
          </a:xfrm>
          <a:prstGeom prst="rect">
            <a:avLst/>
          </a:prstGeom>
          <a:solidFill>
            <a:srgbClr val="2A1F0E"/>
          </a:solidFill>
          <a:ln w="12700">
            <a:solidFill>
              <a:srgbClr val="2A1F0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</a:rPr>
              <a:t>⚖️  AXE ÉTHIQUE — Audit Fairness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93AC"/>
                </a:solidFill>
              </a:rPr>
              <a:t>Personne 4 — ~2 min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</a:rPr>
              <a:t>Genre (H vs F)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1920240" cy="10515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" y="1444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</a:rPr>
              <a:t>1.066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C"/>
                </a:solidFill>
              </a:rPr>
              <a:t>Disparate Impact ✅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31720" y="1371600"/>
            <a:ext cx="1920240" cy="10515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331720" y="1444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</a:rPr>
              <a:t>+0.018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3317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C"/>
                </a:solidFill>
              </a:rPr>
              <a:t>Dem. Parity Diff ✅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43400" y="1371600"/>
            <a:ext cx="1920240" cy="10515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343400" y="1444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0.154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34340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C"/>
                </a:solidFill>
              </a:rPr>
              <a:t>Eq. Odds Diff ⚠️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2560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</a:rPr>
              <a:t>Ethnie (White vs autres)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1920240" cy="10515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20040" y="29992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</a:rPr>
              <a:t>0.826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20040" y="35478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C"/>
                </a:solidFill>
              </a:rPr>
              <a:t>Disparate Impact ✅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31720" y="2926080"/>
            <a:ext cx="1920240" cy="10515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331720" y="29992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</a:rPr>
              <a:t>-0.054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331720" y="35478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C"/>
                </a:solidFill>
              </a:rPr>
              <a:t>Dem. Parity Diff 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43400" y="2926080"/>
            <a:ext cx="1920240" cy="10515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343400" y="29992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0.154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343400" y="35478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C"/>
                </a:solidFill>
              </a:rPr>
              <a:t>Eq. Odds Diff ⚠️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05840"/>
            <a:ext cx="2377440" cy="320040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583680" y="1051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Signal ⚠️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1463040"/>
            <a:ext cx="2240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Eq. Odds Diff = 0.154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93AC"/>
                </a:solidFill>
              </a:rPr>
              <a:t>Le modèle détecte légèrement moins bien les vrais départs chez les femmes.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0F4F8"/>
                </a:solidFill>
              </a:rPr>
              <a:t>Recommandation :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93AC"/>
                </a:solidFill>
              </a:rPr>
              <a:t>Supervision humaine sur tous les cas limites (score 40–60%)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0040" y="440740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EA5E9"/>
                </a:solidFill>
              </a:rPr>
              <a:t>Explicabilité : waterfall SHAP par employé disponible dans l'app → droit à l'explication garanti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</a:rPr>
              <a:t>Démonstration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20240" cy="2560320"/>
          </a:xfrm>
          <a:prstGeom prst="rect">
            <a:avLst/>
          </a:prstGeom>
          <a:solidFill>
            <a:srgbClr val="1A2E45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92024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</a:rPr>
              <a:t>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176272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C"/>
                </a:solidFill>
              </a:rPr>
              <a:t>KPIs globaux · Distribution des scores · Top 10 à risque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0" y="914400"/>
            <a:ext cx="1920240" cy="2560320"/>
          </a:xfrm>
          <a:prstGeom prst="rect">
            <a:avLst/>
          </a:prstGeom>
          <a:solidFill>
            <a:srgbClr val="1A2E45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377440" y="914400"/>
            <a:ext cx="19202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377440" y="1051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6888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</a:rPr>
              <a:t>Analyse individuelle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176272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C"/>
                </a:solidFill>
              </a:rPr>
              <a:t>Score par employé · Waterfall SHAP · Recommandation RH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34840" y="914400"/>
            <a:ext cx="1920240" cy="2560320"/>
          </a:xfrm>
          <a:prstGeom prst="rect">
            <a:avLst/>
          </a:prstGeom>
          <a:solidFill>
            <a:srgbClr val="1A2E4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434840" y="91440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434840" y="1051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⚖️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2628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</a:rPr>
              <a:t>Audit Fairness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2176272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C"/>
                </a:solidFill>
              </a:rPr>
              <a:t>3 métriques · AIF360 · Graphiques genre &amp; ethnie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92240" y="914400"/>
            <a:ext cx="1920240" cy="2560320"/>
          </a:xfrm>
          <a:prstGeom prst="rect">
            <a:avLst/>
          </a:prstGeom>
          <a:solidFill>
            <a:srgbClr val="1A2E45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492240" y="914400"/>
            <a:ext cx="19202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492240" y="1051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🇪🇺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58368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</a:rPr>
              <a:t>EU AI Act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2176272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C"/>
                </a:solidFill>
              </a:rPr>
              <a:t>Classification Haut Risque · Obligations documentées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639312"/>
            <a:ext cx="850392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20040" y="363931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streamlit run app.py  →  http://localhost:8501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6CA8">
              <a:alpha val="10000"/>
            </a:srgbClr>
          </a:solidFill>
          <a:ln w="12700">
            <a:solidFill>
              <a:srgbClr val="1B6CA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8"/>
                </a:solidFill>
              </a:rPr>
              <a:t>Ce qu'on a livré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A5E9"/>
                </a:solidFill>
              </a:rPr>
              <a:t>✅  Pipeline complet en 3 scripts Python reproductibles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A5E9"/>
                </a:solidFill>
              </a:rPr>
              <a:t>✅  4 techniques d'anonymisation RGPD documentées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A5E9"/>
                </a:solidFill>
              </a:rPr>
              <a:t>✅  Modèle RF — Accuracy 79% · Recall Left 62%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9E0B"/>
                </a:solidFill>
              </a:rPr>
              <a:t>✅  Audit fairness genre + ethnie (AIF360 + métriques manuelles)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3063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9E0B"/>
                </a:solidFill>
              </a:rPr>
              <a:t>✅  Explicabilité SHAP par employé dans l'app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3611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C55E"/>
                </a:solidFill>
              </a:rPr>
              <a:t>✅  Web app Streamlit 4 pages · README · GitHub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17920" y="9144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🛡️</a:t>
            </a:r>
            <a:endParaRPr lang="en-US" sz="8000" dirty="0"/>
          </a:p>
        </p:txBody>
      </p:sp>
      <p:sp>
        <p:nvSpPr>
          <p:cNvPr id="13" name="Text 11"/>
          <p:cNvSpPr/>
          <p:nvPr/>
        </p:nvSpPr>
        <p:spPr>
          <a:xfrm>
            <a:off x="5760720" y="27432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93AC"/>
                </a:solidFill>
              </a:rPr>
              <a:t>"Une IA utile ne suffit pas.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7A93AC"/>
                </a:solidFill>
              </a:rPr>
              <a:t>Elle doit aussi être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7A93AC"/>
                </a:solidFill>
              </a:rPr>
              <a:t>juste et explicable."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389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</a:rPr>
              <a:t>Merci  ·  Questions 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</Words>
  <Application>Microsoft Office PowerPoint</Application>
  <PresentationFormat>Affichage à l'écran (16:9)</PresentationFormat>
  <Paragraphs>113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TalentGuard AI — Hackathon Trusted AI x RH</dc:title>
  <dc:subject>PptxGenJS Presentation</dc:subject>
  <dc:creator>PptxGenJS</dc:creator>
  <cp:lastModifiedBy>antonin Ronseray</cp:lastModifiedBy>
  <cp:revision>2</cp:revision>
  <dcterms:created xsi:type="dcterms:W3CDTF">2026-03-16T20:32:48Z</dcterms:created>
  <dcterms:modified xsi:type="dcterms:W3CDTF">2026-03-16T20:36:56Z</dcterms:modified>
</cp:coreProperties>
</file>