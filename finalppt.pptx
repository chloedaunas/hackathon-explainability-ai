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3" r:id="rId2"/>
  </p:sldMasterIdLst>
  <p:notesMasterIdLst>
    <p:notesMasterId r:id="rId13"/>
  </p:notesMasterIdLst>
  <p:sldIdLst>
    <p:sldId id="271" r:id="rId3"/>
    <p:sldId id="265" r:id="rId4"/>
    <p:sldId id="258" r:id="rId5"/>
    <p:sldId id="272" r:id="rId6"/>
    <p:sldId id="273" r:id="rId7"/>
    <p:sldId id="264" r:id="rId8"/>
    <p:sldId id="270" r:id="rId9"/>
    <p:sldId id="259" r:id="rId10"/>
    <p:sldId id="267" r:id="rId11"/>
    <p:sldId id="26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4" y="4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028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58AB-A026-4A2B-04C4-1EA6305F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6C59A-5CF2-8CC2-0C29-60653215C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8E96A-99B3-2F26-DE17-5A1E84BC4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0A423-94EB-3F6C-8AD6-780661DE3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727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4528E-DD00-6ABB-2D1B-490D9895D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D6F6B-3CAA-406A-9232-B1836B2F9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68E46-E80D-3A14-DE11-2C0E283BB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77CDA-1C62-EB8E-6430-25C80B56C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9203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757C-287B-C3CD-A302-7AF70A65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7564E-4A0B-8F4F-59BF-B22C0001D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74A58-0A92-EFFE-DE36-DDFDCFBBB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B53D9-B764-423B-8280-8A2807838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03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06A59-5A86-3424-62CB-681DDB85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B2DC7-B22D-EC7B-A343-16EEA4686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07293-DB94-197B-2919-F7F0A1A11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5EB30-8393-0D81-A50E-1F7F7C3AC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18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92" y="559081"/>
            <a:ext cx="6099170" cy="2669894"/>
          </a:xfrm>
        </p:spPr>
        <p:txBody>
          <a:bodyPr anchor="t">
            <a:norm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82" y="3501987"/>
            <a:ext cx="6099170" cy="1012863"/>
          </a:xfrm>
        </p:spPr>
        <p:txBody>
          <a:bodyPr anchor="b">
            <a:normAutofit/>
          </a:bodyPr>
          <a:lstStyle>
            <a:lvl1pPr marL="0" indent="0" algn="l">
              <a:buNone/>
              <a:defRPr sz="3556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36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6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31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04" y="1682782"/>
            <a:ext cx="6867216" cy="2832068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103" y="628651"/>
            <a:ext cx="6867217" cy="1054131"/>
          </a:xfrm>
        </p:spPr>
        <p:txBody>
          <a:bodyPr>
            <a:normAutofit/>
          </a:bodyPr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6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8" y="562970"/>
            <a:ext cx="8134917" cy="97811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721" y="1556438"/>
            <a:ext cx="3428466" cy="3076119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671" y="1556438"/>
            <a:ext cx="3577643" cy="3076119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37" y="557852"/>
            <a:ext cx="8073203" cy="76902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721" y="1326874"/>
            <a:ext cx="3428465" cy="611256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721" y="2008948"/>
            <a:ext cx="3428465" cy="2630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975" y="1326874"/>
            <a:ext cx="3428465" cy="611256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3975" y="2008947"/>
            <a:ext cx="3428465" cy="2630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4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568324"/>
            <a:ext cx="5430220" cy="266065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8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4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7" y="574977"/>
            <a:ext cx="2963809" cy="1132971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50" y="526840"/>
            <a:ext cx="4687491" cy="3988010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2965" y="1707948"/>
            <a:ext cx="2814560" cy="280690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1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29" y="574387"/>
            <a:ext cx="2996770" cy="1331084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29050" y="628651"/>
            <a:ext cx="4687491" cy="388619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5103" y="1914525"/>
            <a:ext cx="2802422" cy="2600324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03" y="47402"/>
            <a:ext cx="2057400" cy="238666"/>
          </a:xfrm>
        </p:spPr>
        <p:txBody>
          <a:bodyPr/>
          <a:lstStyle/>
          <a:p>
            <a:fld id="{3220A08F-2B1D-4498-A043-7C299B1C2561}" type="datetimeFigureOut">
              <a:rPr lang="en-US" dirty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7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568088"/>
            <a:ext cx="8156965" cy="9109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1601" y="1479076"/>
            <a:ext cx="8136655" cy="30357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87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19622" y="566986"/>
            <a:ext cx="1708164" cy="40037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566986"/>
            <a:ext cx="6172565" cy="4003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81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00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27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465151"/>
            <a:ext cx="7467560" cy="1079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601" y="1730086"/>
            <a:ext cx="7467560" cy="29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103" y="47402"/>
            <a:ext cx="2057400" cy="238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2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012" y="4818571"/>
            <a:ext cx="30449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2963" y="4819362"/>
            <a:ext cx="32232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01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96" userDrawn="1">
          <p15:clr>
            <a:srgbClr val="F26B43"/>
          </p15:clr>
        </p15:guide>
        <p15:guide id="19" orient="horz" pos="1620" userDrawn="1">
          <p15:clr>
            <a:srgbClr val="F26B43"/>
          </p15:clr>
        </p15:guide>
        <p15:guide id="20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10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233"/>
          </a:solidFill>
          <a:ln w="12700">
            <a:solidFill>
              <a:srgbClr val="14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TalentGuard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Preventing employee turnover with responsible AI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3383280"/>
            <a:ext cx="914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3566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A506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Hackathon Trusted AI March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404164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40416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🔒 Cybersecurity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20240" y="40416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920240" y="4041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⚖️ Ethics AI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🛡️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CONTEXT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problem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2926080"/>
          </a:xfrm>
          <a:prstGeom prst="rect">
            <a:avLst/>
          </a:prstGeom>
          <a:solidFill>
            <a:srgbClr val="142233"/>
          </a:solidFill>
          <a:ln w="6350">
            <a:solidFill>
              <a:srgbClr val="3A506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📉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33%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Turnover rate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3017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employees in the dataset have left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97480" cy="2926080"/>
          </a:xfrm>
          <a:prstGeom prst="rect">
            <a:avLst/>
          </a:prstGeom>
          <a:solidFill>
            <a:srgbClr val="142233"/>
          </a:solidFill>
          <a:ln w="6350">
            <a:solidFill>
              <a:srgbClr val="3A506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371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🔍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46120" y="2011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55848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Predictive tools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55848" y="3017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 teams lack systems to anticipate departures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97480" cy="2926080"/>
          </a:xfrm>
          <a:prstGeom prst="rect">
            <a:avLst/>
          </a:prstGeom>
          <a:solidFill>
            <a:srgbClr val="142233"/>
          </a:solidFill>
          <a:ln w="6350">
            <a:solidFill>
              <a:srgbClr val="3A506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9748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3716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⚖️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36208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Legal exposure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36208" y="3017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 data is sensitive — GDPR &amp; AI Act apply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 Our answer: TalentGuard AI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SOLUTION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it works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627632" cy="2286000"/>
          </a:xfrm>
          <a:prstGeom prst="rect">
            <a:avLst/>
          </a:prstGeom>
          <a:solidFill>
            <a:srgbClr val="142233"/>
          </a:solidFill>
          <a:ln w="1016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1298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6032" y="15727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0896" y="2176272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Anonymization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83664" y="187452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506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75104" y="1234440"/>
            <a:ext cx="1627632" cy="2286000"/>
          </a:xfrm>
          <a:prstGeom prst="rect">
            <a:avLst/>
          </a:prstGeom>
          <a:solidFill>
            <a:srgbClr val="142233"/>
          </a:solidFill>
          <a:ln w="10160">
            <a:solidFill>
              <a:srgbClr val="1B6CA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66544" y="1298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6C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75104" y="15727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29968" y="2176272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 Forest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02736" y="187452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506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94176" y="1234440"/>
            <a:ext cx="1627632" cy="2286000"/>
          </a:xfrm>
          <a:prstGeom prst="rect">
            <a:avLst/>
          </a:prstGeom>
          <a:solidFill>
            <a:srgbClr val="142233"/>
          </a:solidFill>
          <a:ln w="1016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85616" y="1298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4176" y="15727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49040" y="2176272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NLP Sentiment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Analysis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21808" y="187452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506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13248" y="1234440"/>
            <a:ext cx="1627632" cy="2286000"/>
          </a:xfrm>
          <a:prstGeom prst="rect">
            <a:avLst/>
          </a:prstGeom>
          <a:solidFill>
            <a:srgbClr val="142233"/>
          </a:solidFill>
          <a:ln w="1016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04688" y="1298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13248" y="15727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⚖️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68112" y="2176272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 Audit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AIF360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0880" y="187452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506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32320" y="1234440"/>
            <a:ext cx="1627632" cy="2286000"/>
          </a:xfrm>
          <a:prstGeom prst="rect">
            <a:avLst/>
          </a:prstGeom>
          <a:solidFill>
            <a:srgbClr val="142233"/>
          </a:solidFill>
          <a:ln w="1016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23760" y="1298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0" y="15727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US" sz="2400" b="1" dirty="0">
                <a:solidFill>
                  <a:srgbClr val="0EA5E9"/>
                </a:solidFill>
              </a:rPr>
              <a:t>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68896" y="2135124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Simulator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8595360" cy="548640"/>
          </a:xfrm>
          <a:prstGeom prst="rect">
            <a:avLst/>
          </a:prstGeom>
          <a:solidFill>
            <a:srgbClr val="060E18"/>
          </a:solidFill>
          <a:ln w="10160">
            <a:solidFill>
              <a:srgbClr val="1B6C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4320" y="3703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  Dashboard  ·  🔍 Individual analysis  ·  ⚖️ Fairness audit  ·  🔐 Security  ·  🎯 Risk simulator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F203C-FE17-D064-9B7B-0B6988751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1DE4FB8-D73A-806D-578E-BD91CF6AD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061" y="53611"/>
            <a:ext cx="5071057" cy="1871864"/>
          </a:xfrm>
          <a:prstGeom prst="rect">
            <a:avLst/>
          </a:prstGeom>
        </p:spPr>
      </p:pic>
      <p:sp>
        <p:nvSpPr>
          <p:cNvPr id="31" name="Text 1">
            <a:extLst>
              <a:ext uri="{FF2B5EF4-FFF2-40B4-BE49-F238E27FC236}">
                <a16:creationId xmlns:a16="http://schemas.microsoft.com/office/drawing/2014/main" id="{4C439DD5-F2A1-9120-3AF3-D5DC852288FE}"/>
              </a:ext>
            </a:extLst>
          </p:cNvPr>
          <p:cNvSpPr/>
          <p:nvPr/>
        </p:nvSpPr>
        <p:spPr>
          <a:xfrm>
            <a:off x="267573" y="301167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000" b="1">
                <a:solidFill>
                  <a:srgbClr val="F0F4F8"/>
                </a:solidFill>
                <a:latin typeface="Calibri" panose="020F0502020204030204"/>
              </a:rPr>
              <a:t>Model </a:t>
            </a:r>
            <a:endParaRPr lang="fr-FR">
              <a:ea typeface="+mn-ea"/>
              <a:cs typeface="+mn-cs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24B06C8-EAFD-96E6-ACC4-4F54DDD1BC0C}"/>
              </a:ext>
            </a:extLst>
          </p:cNvPr>
          <p:cNvSpPr txBox="1"/>
          <p:nvPr/>
        </p:nvSpPr>
        <p:spPr>
          <a:xfrm>
            <a:off x="379094" y="896183"/>
            <a:ext cx="3032973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Random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forest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 err="1">
                <a:solidFill>
                  <a:schemeClr val="bg1"/>
                </a:solidFill>
              </a:rPr>
              <a:t>Columns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removed</a:t>
            </a:r>
            <a:r>
              <a:rPr lang="fr-FR" dirty="0">
                <a:solidFill>
                  <a:schemeClr val="bg1"/>
                </a:solidFill>
              </a:rPr>
              <a:t>:</a:t>
            </a:r>
          </a:p>
          <a:p>
            <a:r>
              <a:rPr lang="fr-FR" dirty="0">
                <a:solidFill>
                  <a:schemeClr val="bg1"/>
                </a:solidFill>
              </a:rPr>
              <a:t>To </a:t>
            </a:r>
            <a:r>
              <a:rPr lang="fr-FR" dirty="0" err="1">
                <a:solidFill>
                  <a:schemeClr val="bg1"/>
                </a:solidFill>
              </a:rPr>
              <a:t>avoid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leaks</a:t>
            </a:r>
            <a:r>
              <a:rPr lang="fr-FR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DateofTermination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EmpStatusID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EmploymentStatus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HasTermDate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TermReason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 err="1">
                <a:solidFill>
                  <a:schemeClr val="bg1"/>
                </a:solidFill>
              </a:rPr>
              <a:t>After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creation</a:t>
            </a:r>
            <a:r>
              <a:rPr lang="fr-FR" dirty="0">
                <a:solidFill>
                  <a:schemeClr val="bg1"/>
                </a:solidFill>
              </a:rPr>
              <a:t> of </a:t>
            </a:r>
            <a:r>
              <a:rPr lang="fr-FR" dirty="0" err="1">
                <a:solidFill>
                  <a:schemeClr val="bg1"/>
                </a:solidFill>
              </a:rPr>
              <a:t>ternure</a:t>
            </a:r>
            <a:r>
              <a:rPr lang="fr-FR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DateofHire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LastPerformanceReview_Date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 err="1">
                <a:solidFill>
                  <a:schemeClr val="bg1"/>
                </a:solidFill>
              </a:rPr>
              <a:t>Becase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they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were</a:t>
            </a:r>
            <a:r>
              <a:rPr lang="fr-FR" dirty="0">
                <a:solidFill>
                  <a:schemeClr val="bg1"/>
                </a:solidFill>
              </a:rPr>
              <a:t> not </a:t>
            </a:r>
            <a:r>
              <a:rPr lang="fr-FR" dirty="0" err="1">
                <a:solidFill>
                  <a:schemeClr val="bg1"/>
                </a:solidFill>
              </a:rPr>
              <a:t>predictive</a:t>
            </a:r>
            <a:r>
              <a:rPr lang="fr-FR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ManagerID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1000" dirty="0" err="1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ManagerName</a:t>
            </a:r>
            <a:r>
              <a:rPr lang="fr-FR" sz="1000" dirty="0">
                <a:solidFill>
                  <a:schemeClr val="bg1"/>
                </a:solidFill>
                <a:highlight>
                  <a:srgbClr val="181818"/>
                </a:highlight>
                <a:ea typeface="+mn-lt"/>
                <a:cs typeface="+mn-lt"/>
              </a:rPr>
              <a:t> 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33" name="Image 32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0F308B3E-187C-623D-EDD6-8D7A66376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414" y="2019584"/>
            <a:ext cx="3197852" cy="275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53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C8DB8-6642-DD71-BE7E-EA4F6546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nombre, Tracé&#10;&#10;Le contenu généré par l’IA peut être incorrect.">
            <a:extLst>
              <a:ext uri="{FF2B5EF4-FFF2-40B4-BE49-F238E27FC236}">
                <a16:creationId xmlns:a16="http://schemas.microsoft.com/office/drawing/2014/main" id="{05187EB5-364C-37CC-F049-1D5B5F53C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38" y="273676"/>
            <a:ext cx="4335924" cy="2567726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BFD71CC-A163-5369-81AB-AB5CC333A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013" y="729936"/>
            <a:ext cx="4342596" cy="1655204"/>
          </a:xfrm>
          <a:prstGeom prst="rect">
            <a:avLst/>
          </a:prstGeom>
        </p:spPr>
      </p:pic>
      <p:pic>
        <p:nvPicPr>
          <p:cNvPr id="8" name="Image 7" descr="Une image contenant texte, capture d’écran, affichage, diagramme&#10;&#10;Le contenu généré par l’IA peut être incorrect.">
            <a:extLst>
              <a:ext uri="{FF2B5EF4-FFF2-40B4-BE49-F238E27FC236}">
                <a16:creationId xmlns:a16="http://schemas.microsoft.com/office/drawing/2014/main" id="{4CEF61B5-977B-F12D-D1CF-2E7499E57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4885" y="2961871"/>
            <a:ext cx="2545860" cy="2181897"/>
          </a:xfrm>
          <a:prstGeom prst="rect">
            <a:avLst/>
          </a:prstGeom>
        </p:spPr>
      </p:pic>
      <p:pic>
        <p:nvPicPr>
          <p:cNvPr id="9" name="Image 8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C431AEFA-3694-5F4C-A00F-62A2DC05D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519" y="2961872"/>
            <a:ext cx="2537810" cy="218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4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49928-C184-C390-11D2-B60DBCF6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4F37A4-626A-1A0F-0B67-0D670FAC8DDB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68FAB1-2ABA-21BB-CA52-770D6EB95562}"/>
              </a:ext>
            </a:extLst>
          </p:cNvPr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F0F4F8"/>
                </a:solidFill>
              </a:rPr>
              <a:t>Employee Feedback Analysis with NLP and Machine Learning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D63B2AE-94F6-07E0-D1F7-EA07BCC74E64}"/>
              </a:ext>
            </a:extLst>
          </p:cNvPr>
          <p:cNvSpPr txBox="1"/>
          <p:nvPr/>
        </p:nvSpPr>
        <p:spPr>
          <a:xfrm>
            <a:off x="583163" y="1170947"/>
            <a:ext cx="4162589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 err="1"/>
              <a:t>Step</a:t>
            </a:r>
            <a:r>
              <a:rPr lang="fr-FR" sz="1400" dirty="0"/>
              <a:t> 1 : 2 </a:t>
            </a:r>
            <a:r>
              <a:rPr lang="fr-FR" sz="1400" dirty="0" err="1"/>
              <a:t>columns</a:t>
            </a:r>
            <a:r>
              <a:rPr lang="fr-FR" sz="1400" dirty="0"/>
              <a:t> </a:t>
            </a:r>
            <a:r>
              <a:rPr lang="fr-FR" sz="1400" dirty="0" err="1"/>
              <a:t>generated</a:t>
            </a:r>
            <a:r>
              <a:rPr lang="fr-FR" sz="1400" dirty="0"/>
              <a:t> </a:t>
            </a:r>
            <a:r>
              <a:rPr lang="fr-FR" sz="1400" dirty="0" err="1"/>
              <a:t>with</a:t>
            </a:r>
            <a:r>
              <a:rPr lang="fr-FR" sz="1400" dirty="0"/>
              <a:t> AI to </a:t>
            </a:r>
            <a:r>
              <a:rPr lang="fr-FR" sz="1400" dirty="0" err="1"/>
              <a:t>simulate</a:t>
            </a:r>
            <a:r>
              <a:rPr lang="fr-FR" sz="1400" dirty="0"/>
              <a:t> </a:t>
            </a:r>
            <a:r>
              <a:rPr lang="fr-FR" sz="1400" dirty="0" err="1"/>
              <a:t>employee</a:t>
            </a:r>
            <a:r>
              <a:rPr lang="fr-FR" sz="1400" dirty="0"/>
              <a:t> </a:t>
            </a:r>
            <a:r>
              <a:rPr lang="fr-FR" sz="1400" dirty="0" err="1"/>
              <a:t>comments</a:t>
            </a:r>
            <a:r>
              <a:rPr lang="fr-FR" sz="1400" dirty="0"/>
              <a:t> (</a:t>
            </a:r>
            <a:r>
              <a:rPr lang="fr-FR" sz="1400" i="1" dirty="0" err="1">
                <a:ea typeface="+mn-lt"/>
                <a:cs typeface="+mn-lt"/>
              </a:rPr>
              <a:t>ExitInterview_Feedback</a:t>
            </a:r>
            <a:r>
              <a:rPr lang="fr-FR" sz="1400" i="1" dirty="0">
                <a:ea typeface="+mn-lt"/>
                <a:cs typeface="+mn-lt"/>
              </a:rPr>
              <a:t>, </a:t>
            </a:r>
            <a:r>
              <a:rPr lang="fr-FR" sz="1400" i="1" dirty="0" err="1">
                <a:ea typeface="+mn-lt"/>
                <a:cs typeface="+mn-lt"/>
              </a:rPr>
              <a:t>InternalTransferRequest</a:t>
            </a:r>
            <a:r>
              <a:rPr lang="fr-FR" sz="1400" i="1" dirty="0">
                <a:ea typeface="+mn-lt"/>
                <a:cs typeface="+mn-lt"/>
              </a:rPr>
              <a:t>)</a:t>
            </a:r>
            <a:endParaRPr lang="fr-FR" sz="1400" i="1" dirty="0"/>
          </a:p>
          <a:p>
            <a:endParaRPr lang="fr-FR" sz="1400" i="1" dirty="0"/>
          </a:p>
          <a:p>
            <a:endParaRPr lang="fr-FR" sz="1400" i="1" dirty="0"/>
          </a:p>
          <a:p>
            <a:r>
              <a:rPr lang="fr-FR" sz="1400" i="1" dirty="0" err="1"/>
              <a:t>Step</a:t>
            </a:r>
            <a:r>
              <a:rPr lang="fr-FR" sz="1400" i="1" dirty="0"/>
              <a:t> 2 : </a:t>
            </a:r>
            <a:r>
              <a:rPr lang="fr-FR" sz="1400" i="1" dirty="0" err="1"/>
              <a:t>lexicon-based</a:t>
            </a:r>
            <a:r>
              <a:rPr lang="fr-FR" sz="1400" i="1" dirty="0"/>
              <a:t> sentiment </a:t>
            </a:r>
            <a:r>
              <a:rPr lang="fr-FR" sz="1400" i="1" dirty="0" err="1"/>
              <a:t>analysis</a:t>
            </a:r>
            <a:r>
              <a:rPr lang="fr-FR" sz="1400" i="1" dirty="0"/>
              <a:t>. </a:t>
            </a:r>
            <a:r>
              <a:rPr lang="fr-FR" sz="1400" i="1" dirty="0" err="1"/>
              <a:t>Each</a:t>
            </a:r>
            <a:r>
              <a:rPr lang="fr-FR" sz="1400" i="1" dirty="0"/>
              <a:t> comment </a:t>
            </a:r>
            <a:r>
              <a:rPr lang="fr-FR" sz="1400" i="1" dirty="0" err="1"/>
              <a:t>is</a:t>
            </a:r>
            <a:r>
              <a:rPr lang="fr-FR" sz="1400" i="1" dirty="0"/>
              <a:t> </a:t>
            </a:r>
            <a:r>
              <a:rPr lang="fr-FR" sz="1400" i="1" dirty="0" err="1"/>
              <a:t>tokenized</a:t>
            </a:r>
            <a:r>
              <a:rPr lang="fr-FR" sz="1400" i="1" dirty="0"/>
              <a:t> and </a:t>
            </a:r>
            <a:r>
              <a:rPr lang="fr-FR" sz="1400" i="1" dirty="0" err="1"/>
              <a:t>scored</a:t>
            </a:r>
            <a:r>
              <a:rPr lang="fr-FR" sz="1400" i="1" dirty="0"/>
              <a:t> : score = (</a:t>
            </a:r>
            <a:r>
              <a:rPr lang="fr-FR" sz="1400" i="1" dirty="0" err="1"/>
              <a:t>positive_words</a:t>
            </a:r>
            <a:r>
              <a:rPr lang="fr-FR" sz="1400" i="1" dirty="0"/>
              <a:t> –</a:t>
            </a:r>
            <a:r>
              <a:rPr lang="fr-FR" sz="1400" i="1" dirty="0" err="1"/>
              <a:t>negative_words</a:t>
            </a:r>
            <a:r>
              <a:rPr lang="fr-FR" sz="1400" i="1" dirty="0"/>
              <a:t>) / </a:t>
            </a:r>
            <a:r>
              <a:rPr lang="fr-FR" sz="1400" i="1" dirty="0" err="1"/>
              <a:t>total_words</a:t>
            </a:r>
            <a:endParaRPr lang="fr-FR" sz="1400" i="1" dirty="0"/>
          </a:p>
          <a:p>
            <a:endParaRPr lang="fr-FR" sz="1400" i="1" dirty="0"/>
          </a:p>
          <a:p>
            <a:endParaRPr lang="fr-FR" sz="1400" i="1" dirty="0"/>
          </a:p>
          <a:p>
            <a:r>
              <a:rPr lang="fr-FR" sz="1400" i="1" dirty="0" err="1"/>
              <a:t>Step</a:t>
            </a:r>
            <a:r>
              <a:rPr lang="fr-FR" sz="1400" i="1" dirty="0"/>
              <a:t> 3 : </a:t>
            </a:r>
            <a:r>
              <a:rPr lang="fr-FR" sz="1400" i="1" dirty="0" err="1"/>
              <a:t>Text</a:t>
            </a:r>
            <a:r>
              <a:rPr lang="fr-FR" sz="1400" i="1" dirty="0"/>
              <a:t> </a:t>
            </a:r>
            <a:r>
              <a:rPr lang="fr-FR" sz="1400" i="1" dirty="0" err="1"/>
              <a:t>Vectorization</a:t>
            </a:r>
            <a:r>
              <a:rPr lang="fr-FR" sz="1400" i="1" dirty="0"/>
              <a:t> (</a:t>
            </a:r>
            <a:r>
              <a:rPr lang="fr-FR" sz="1400" i="1" dirty="0" err="1"/>
              <a:t>c</a:t>
            </a:r>
            <a:r>
              <a:rPr lang="fr-FR" sz="1400" dirty="0" err="1"/>
              <a:t>omments</a:t>
            </a:r>
            <a:r>
              <a:rPr lang="fr-FR" sz="1400" dirty="0">
                <a:ea typeface="+mn-lt"/>
                <a:cs typeface="+mn-lt"/>
              </a:rPr>
              <a:t> are </a:t>
            </a:r>
            <a:r>
              <a:rPr lang="fr-FR" sz="1400" dirty="0" err="1">
                <a:ea typeface="+mn-lt"/>
                <a:cs typeface="+mn-lt"/>
              </a:rPr>
              <a:t>transformed</a:t>
            </a:r>
            <a:r>
              <a:rPr lang="fr-FR" sz="1400" dirty="0">
                <a:ea typeface="+mn-lt"/>
                <a:cs typeface="+mn-lt"/>
              </a:rPr>
              <a:t> </a:t>
            </a:r>
            <a:r>
              <a:rPr lang="fr-FR" sz="1400" dirty="0" err="1">
                <a:ea typeface="+mn-lt"/>
                <a:cs typeface="+mn-lt"/>
              </a:rPr>
              <a:t>into</a:t>
            </a:r>
            <a:r>
              <a:rPr lang="fr-FR" sz="1400" dirty="0">
                <a:ea typeface="+mn-lt"/>
                <a:cs typeface="+mn-lt"/>
              </a:rPr>
              <a:t> </a:t>
            </a:r>
            <a:r>
              <a:rPr lang="fr-FR" sz="1400" dirty="0" err="1">
                <a:ea typeface="+mn-lt"/>
                <a:cs typeface="+mn-lt"/>
              </a:rPr>
              <a:t>numerical</a:t>
            </a:r>
            <a:r>
              <a:rPr lang="fr-FR" sz="1400" dirty="0">
                <a:ea typeface="+mn-lt"/>
                <a:cs typeface="+mn-lt"/>
              </a:rPr>
              <a:t> </a:t>
            </a:r>
            <a:r>
              <a:rPr lang="fr-FR" sz="1400" dirty="0" err="1">
                <a:ea typeface="+mn-lt"/>
                <a:cs typeface="+mn-lt"/>
              </a:rPr>
              <a:t>vectors</a:t>
            </a:r>
            <a:r>
              <a:rPr lang="fr-FR" sz="1400" dirty="0">
                <a:ea typeface="+mn-lt"/>
                <a:cs typeface="+mn-lt"/>
              </a:rPr>
              <a:t> </a:t>
            </a:r>
            <a:r>
              <a:rPr lang="fr-FR" sz="1400" dirty="0" err="1">
                <a:ea typeface="+mn-lt"/>
                <a:cs typeface="+mn-lt"/>
              </a:rPr>
              <a:t>with</a:t>
            </a:r>
            <a:r>
              <a:rPr lang="fr-FR" sz="1400" dirty="0">
                <a:ea typeface="+mn-lt"/>
                <a:cs typeface="+mn-lt"/>
              </a:rPr>
              <a:t> TF-IDF, </a:t>
            </a:r>
            <a:r>
              <a:rPr lang="fr-FR" sz="1400" dirty="0" err="1">
                <a:ea typeface="+mn-lt"/>
                <a:cs typeface="+mn-lt"/>
              </a:rPr>
              <a:t>weighting</a:t>
            </a:r>
            <a:r>
              <a:rPr lang="fr-FR" sz="1400" dirty="0">
                <a:ea typeface="+mn-lt"/>
                <a:cs typeface="+mn-lt"/>
              </a:rPr>
              <a:t> </a:t>
            </a:r>
            <a:r>
              <a:rPr lang="fr-FR" sz="1400" dirty="0" err="1">
                <a:ea typeface="+mn-lt"/>
                <a:cs typeface="+mn-lt"/>
              </a:rPr>
              <a:t>words</a:t>
            </a:r>
            <a:r>
              <a:rPr lang="fr-FR" sz="1400" dirty="0">
                <a:ea typeface="+mn-lt"/>
                <a:cs typeface="+mn-lt"/>
              </a:rPr>
              <a:t> by </a:t>
            </a:r>
            <a:r>
              <a:rPr lang="fr-FR" sz="1400" dirty="0" err="1">
                <a:ea typeface="+mn-lt"/>
                <a:cs typeface="+mn-lt"/>
              </a:rPr>
              <a:t>frequency</a:t>
            </a:r>
            <a:r>
              <a:rPr lang="fr-FR" sz="1400" dirty="0">
                <a:ea typeface="+mn-lt"/>
                <a:cs typeface="+mn-lt"/>
              </a:rPr>
              <a:t> and </a:t>
            </a:r>
            <a:r>
              <a:rPr lang="fr-FR" sz="1400" dirty="0" err="1">
                <a:ea typeface="+mn-lt"/>
                <a:cs typeface="+mn-lt"/>
              </a:rPr>
              <a:t>rarity</a:t>
            </a:r>
            <a:r>
              <a:rPr lang="fr-FR" sz="1400" dirty="0">
                <a:ea typeface="+mn-lt"/>
                <a:cs typeface="+mn-lt"/>
              </a:rPr>
              <a:t>.)</a:t>
            </a:r>
            <a:endParaRPr lang="fr-FR" sz="1400" i="1" dirty="0"/>
          </a:p>
          <a:p>
            <a:endParaRPr lang="fr-FR" sz="1400" dirty="0"/>
          </a:p>
          <a:p>
            <a:endParaRPr lang="fr-FR" sz="1600" i="1" dirty="0"/>
          </a:p>
          <a:p>
            <a:endParaRPr lang="fr-FR" sz="1600" i="1" dirty="0"/>
          </a:p>
          <a:p>
            <a:pPr>
              <a:buFont typeface="Arial"/>
              <a:buChar char="•"/>
            </a:pPr>
            <a:endParaRPr lang="fr-FR" i="1" dirty="0"/>
          </a:p>
        </p:txBody>
      </p:sp>
      <p:pic>
        <p:nvPicPr>
          <p:cNvPr id="27" name="Image 26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E51FC8D6-6148-9B3C-3EB4-0A489FD1F2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78" t="7512" r="43850" b="469"/>
          <a:stretch>
            <a:fillRect/>
          </a:stretch>
        </p:blipFill>
        <p:spPr>
          <a:xfrm>
            <a:off x="4733698" y="2947533"/>
            <a:ext cx="3408281" cy="2109900"/>
          </a:xfrm>
          <a:prstGeom prst="rect">
            <a:avLst/>
          </a:prstGeom>
        </p:spPr>
      </p:pic>
      <p:pic>
        <p:nvPicPr>
          <p:cNvPr id="28" name="Image 2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19CE07D-79CF-EDB2-0156-E80E428E2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310" y="774759"/>
            <a:ext cx="2728645" cy="201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6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9F070-E4A4-0868-3632-E6062ACDE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4EFBC8-7ACF-2187-66A7-2A841E6708F9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FFBE96-090E-7781-BED2-204A21DD783B}"/>
              </a:ext>
            </a:extLst>
          </p:cNvPr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F0F4F8"/>
                </a:solidFill>
              </a:rPr>
              <a:t>Employee Feedback Analysis with NLP and Machine Learning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3E96A35-6DD2-E520-280A-E8F1D32F62A9}"/>
              </a:ext>
            </a:extLst>
          </p:cNvPr>
          <p:cNvSpPr txBox="1"/>
          <p:nvPr/>
        </p:nvSpPr>
        <p:spPr>
          <a:xfrm>
            <a:off x="583163" y="1084683"/>
            <a:ext cx="4108674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err="1"/>
              <a:t>Step</a:t>
            </a:r>
            <a:r>
              <a:rPr lang="fr-FR" sz="1400"/>
              <a:t> 4 : </a:t>
            </a:r>
            <a:r>
              <a:rPr lang="fr-FR" sz="1400" err="1"/>
              <a:t>Logistic</a:t>
            </a:r>
            <a:r>
              <a:rPr lang="fr-FR" sz="1400"/>
              <a:t> </a:t>
            </a:r>
            <a:r>
              <a:rPr lang="fr-FR" sz="1400" err="1"/>
              <a:t>Regression</a:t>
            </a:r>
            <a:r>
              <a:rPr lang="fr-FR" sz="1400"/>
              <a:t> modeling</a:t>
            </a:r>
            <a:endParaRPr lang="fr-FR" sz="1400">
              <a:ea typeface="+mn-lt"/>
              <a:cs typeface="+mn-lt"/>
            </a:endParaRPr>
          </a:p>
          <a:p>
            <a:r>
              <a:rPr lang="fr-FR" sz="1400">
                <a:ea typeface="+mn-lt"/>
                <a:cs typeface="+mn-lt"/>
              </a:rPr>
              <a:t>(coefficients </a:t>
            </a:r>
            <a:r>
              <a:rPr lang="fr-FR" sz="1400" err="1">
                <a:ea typeface="+mn-lt"/>
                <a:cs typeface="+mn-lt"/>
              </a:rPr>
              <a:t>reveal</a:t>
            </a:r>
            <a:r>
              <a:rPr lang="fr-FR" sz="1400">
                <a:ea typeface="+mn-lt"/>
                <a:cs typeface="+mn-lt"/>
              </a:rPr>
              <a:t> </a:t>
            </a:r>
            <a:r>
              <a:rPr lang="fr-FR" sz="1400" err="1">
                <a:ea typeface="+mn-lt"/>
                <a:cs typeface="+mn-lt"/>
              </a:rPr>
              <a:t>words</a:t>
            </a:r>
            <a:r>
              <a:rPr lang="fr-FR" sz="1400">
                <a:ea typeface="+mn-lt"/>
                <a:cs typeface="+mn-lt"/>
              </a:rPr>
              <a:t> </a:t>
            </a:r>
            <a:r>
              <a:rPr lang="fr-FR" sz="1400" err="1">
                <a:ea typeface="+mn-lt"/>
                <a:cs typeface="+mn-lt"/>
              </a:rPr>
              <a:t>associated</a:t>
            </a:r>
            <a:r>
              <a:rPr lang="fr-FR" sz="1400">
                <a:ea typeface="+mn-lt"/>
                <a:cs typeface="+mn-lt"/>
              </a:rPr>
              <a:t> </a:t>
            </a:r>
            <a:r>
              <a:rPr lang="fr-FR" sz="1400" err="1">
                <a:ea typeface="+mn-lt"/>
                <a:cs typeface="+mn-lt"/>
              </a:rPr>
              <a:t>with</a:t>
            </a:r>
            <a:r>
              <a:rPr lang="fr-FR" sz="1400">
                <a:ea typeface="+mn-lt"/>
                <a:cs typeface="+mn-lt"/>
              </a:rPr>
              <a:t> </a:t>
            </a:r>
            <a:r>
              <a:rPr lang="fr-FR" sz="1400" err="1">
                <a:ea typeface="+mn-lt"/>
                <a:cs typeface="+mn-lt"/>
              </a:rPr>
              <a:t>leaving</a:t>
            </a:r>
            <a:r>
              <a:rPr lang="fr-FR" sz="1400">
                <a:ea typeface="+mn-lt"/>
                <a:cs typeface="+mn-lt"/>
              </a:rPr>
              <a:t>)</a:t>
            </a:r>
            <a:endParaRPr lang="fr-FR" sz="1400" i="1"/>
          </a:p>
          <a:p>
            <a:endParaRPr lang="fr-FR" sz="1400" i="1"/>
          </a:p>
          <a:p>
            <a:r>
              <a:rPr lang="fr-FR" sz="1400" i="1"/>
              <a:t>Step5: </a:t>
            </a:r>
            <a:r>
              <a:rPr lang="fr-FR" sz="1400" i="1" err="1"/>
              <a:t>Theme</a:t>
            </a:r>
            <a:r>
              <a:rPr lang="fr-FR" sz="1400" i="1"/>
              <a:t> </a:t>
            </a:r>
            <a:r>
              <a:rPr lang="fr-FR" sz="1400" i="1" err="1"/>
              <a:t>discovery</a:t>
            </a:r>
            <a:r>
              <a:rPr lang="fr-FR" sz="1400" i="1"/>
              <a:t> </a:t>
            </a:r>
            <a:r>
              <a:rPr lang="fr-FR" sz="1400" i="1" err="1"/>
              <a:t>with</a:t>
            </a:r>
            <a:r>
              <a:rPr lang="fr-FR" sz="1400" i="1"/>
              <a:t> LSA and K-</a:t>
            </a:r>
            <a:r>
              <a:rPr lang="fr-FR" sz="1400" i="1" err="1"/>
              <a:t>Means</a:t>
            </a:r>
            <a:endParaRPr lang="fr-FR" sz="1400" i="1"/>
          </a:p>
          <a:p>
            <a:endParaRPr lang="fr-FR" sz="1400" i="1"/>
          </a:p>
          <a:p>
            <a:r>
              <a:rPr lang="fr-FR" sz="1400" i="1"/>
              <a:t>Step_6:  composite </a:t>
            </a:r>
            <a:r>
              <a:rPr lang="fr-FR" sz="1400" i="1" err="1"/>
              <a:t>risk</a:t>
            </a:r>
            <a:r>
              <a:rPr lang="fr-FR" sz="1400" i="1"/>
              <a:t> score</a:t>
            </a:r>
          </a:p>
          <a:p>
            <a:endParaRPr lang="fr-FR" sz="1600" i="1"/>
          </a:p>
          <a:p>
            <a:endParaRPr lang="fr-FR" sz="1600" i="1"/>
          </a:p>
          <a:p>
            <a:endParaRPr lang="fr-FR" sz="1600" i="1"/>
          </a:p>
          <a:p>
            <a:pPr>
              <a:buFont typeface="Arial"/>
              <a:buChar char="•"/>
            </a:pPr>
            <a:endParaRPr lang="fr-FR" i="1"/>
          </a:p>
        </p:txBody>
      </p:sp>
      <p:pic>
        <p:nvPicPr>
          <p:cNvPr id="4" name="Image 3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E4E84C48-9B5E-1563-6D1E-D3240500B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482" y="976887"/>
            <a:ext cx="4244093" cy="1803138"/>
          </a:xfrm>
          <a:prstGeom prst="rect">
            <a:avLst/>
          </a:prstGeom>
        </p:spPr>
      </p:pic>
      <p:pic>
        <p:nvPicPr>
          <p:cNvPr id="5" name="Image 4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4BFCDC27-715E-B62D-B058-82535257D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54" y="3121077"/>
            <a:ext cx="4197247" cy="179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AXIS 1 — CYBERSECURITY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Protecting HR data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3" name="Table 57">
            <a:extLst>
              <a:ext uri="{FF2B5EF4-FFF2-40B4-BE49-F238E27FC236}">
                <a16:creationId xmlns:a16="http://schemas.microsoft.com/office/drawing/2014/main" id="{67641CD1-CA8C-D145-9ABC-7C0341BE8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293641"/>
              </p:ext>
            </p:extLst>
          </p:nvPr>
        </p:nvGraphicFramePr>
        <p:xfrm>
          <a:off x="395006" y="2260546"/>
          <a:ext cx="8356941" cy="2744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647">
                  <a:extLst>
                    <a:ext uri="{9D8B030D-6E8A-4147-A177-3AD203B41FA5}">
                      <a16:colId xmlns:a16="http://schemas.microsoft.com/office/drawing/2014/main" val="1340110118"/>
                    </a:ext>
                  </a:extLst>
                </a:gridCol>
                <a:gridCol w="2785647">
                  <a:extLst>
                    <a:ext uri="{9D8B030D-6E8A-4147-A177-3AD203B41FA5}">
                      <a16:colId xmlns:a16="http://schemas.microsoft.com/office/drawing/2014/main" val="4219344616"/>
                    </a:ext>
                  </a:extLst>
                </a:gridCol>
                <a:gridCol w="2785647">
                  <a:extLst>
                    <a:ext uri="{9D8B030D-6E8A-4147-A177-3AD203B41FA5}">
                      <a16:colId xmlns:a16="http://schemas.microsoft.com/office/drawing/2014/main" val="481829321"/>
                    </a:ext>
                  </a:extLst>
                </a:gridCol>
              </a:tblGrid>
              <a:tr h="4383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ptos"/>
                          <a:ea typeface="+mn-lt"/>
                          <a:cs typeface="+mn-lt"/>
                        </a:rP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ptos"/>
                          <a:ea typeface="+mn-lt"/>
                          <a:cs typeface="+mn-lt"/>
                        </a:rPr>
                        <a:t>Columns 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ptos"/>
                          <a:ea typeface="+mn-lt"/>
                          <a:cs typeface="+mn-lt"/>
                        </a:rPr>
                        <a:t>Justification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514690"/>
                  </a:ext>
                </a:extLst>
              </a:tr>
              <a:tr h="5216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Suppression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Employee_Name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ManagerName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Direct identifiers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008484"/>
                  </a:ext>
                </a:extLst>
              </a:tr>
              <a:tr h="521607"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Pseudonymization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Truncated SHA-256 hash, non-reversible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97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Generalization</a:t>
                      </a:r>
                      <a:endParaRPr lang="en-US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DOB     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AgeGroup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Useful info without exact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964551"/>
                  </a:ext>
                </a:extLst>
              </a:tr>
              <a:tr h="5216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Masking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Zip         first 2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Reduction of geographic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90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  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 , RaceDesc , GenderID</a:t>
                      </a:r>
                      <a:endParaRPr lang="en-US" sz="1400" kern="1200" err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Retained only for fairness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684671"/>
                  </a:ext>
                </a:extLst>
              </a:tr>
            </a:tbl>
          </a:graphicData>
        </a:graphic>
      </p:graphicFrame>
      <p:sp>
        <p:nvSpPr>
          <p:cNvPr id="34" name="Text 8">
            <a:extLst>
              <a:ext uri="{FF2B5EF4-FFF2-40B4-BE49-F238E27FC236}">
                <a16:creationId xmlns:a16="http://schemas.microsoft.com/office/drawing/2014/main" id="{3E45485E-36F7-03C3-58FC-9FEEF07EB16A}"/>
              </a:ext>
            </a:extLst>
          </p:cNvPr>
          <p:cNvSpPr/>
          <p:nvPr/>
        </p:nvSpPr>
        <p:spPr>
          <a:xfrm>
            <a:off x="364551" y="1321566"/>
            <a:ext cx="6923991" cy="8561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Aptos"/>
                <a:ea typeface="+mn-lt"/>
                <a:cs typeface="+mn-lt"/>
              </a:rPr>
              <a:t>~311 employees (after anonymization)</a:t>
            </a:r>
            <a:endParaRPr lang="en-US" sz="1400" dirty="0">
              <a:solidFill>
                <a:schemeClr val="bg1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IN" sz="1400" dirty="0">
                <a:solidFill>
                  <a:schemeClr val="bg1"/>
                </a:solidFill>
                <a:latin typeface="Aptos"/>
                <a:ea typeface="+mn-lt"/>
                <a:cs typeface="+mn-lt"/>
              </a:rPr>
              <a:t>Target variable: </a:t>
            </a:r>
            <a:r>
              <a:rPr lang="en-IN" sz="1400" dirty="0" err="1">
                <a:solidFill>
                  <a:schemeClr val="bg1"/>
                </a:solidFill>
                <a:latin typeface="Aptos"/>
                <a:ea typeface="+mn-lt"/>
                <a:cs typeface="+mn-lt"/>
              </a:rPr>
              <a:t>Termd</a:t>
            </a:r>
            <a:r>
              <a:rPr lang="en-IN" sz="1400" dirty="0">
                <a:solidFill>
                  <a:schemeClr val="bg1"/>
                </a:solidFill>
                <a:latin typeface="Aptos"/>
                <a:ea typeface="+mn-lt"/>
                <a:cs typeface="+mn-lt"/>
              </a:rPr>
              <a:t> (0 = active, 1 = left)</a:t>
            </a:r>
            <a:endParaRPr lang="en-US" sz="1400" dirty="0">
              <a:solidFill>
                <a:schemeClr val="bg1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Aptos"/>
                <a:ea typeface="+mn-lt"/>
                <a:cs typeface="+mn-lt"/>
              </a:rPr>
              <a:t>Turnover rate: ~33%</a:t>
            </a:r>
            <a:endParaRPr lang="en-US" sz="1400" dirty="0">
              <a:solidFill>
                <a:schemeClr val="bg1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IN" sz="1400" dirty="0">
                <a:solidFill>
                  <a:schemeClr val="bg1"/>
                </a:solidFill>
                <a:latin typeface="Aptos"/>
                <a:ea typeface="+mn-lt"/>
                <a:cs typeface="+mn-lt"/>
              </a:rPr>
              <a:t>Sensitive attributes present: Gender, </a:t>
            </a:r>
            <a:r>
              <a:rPr lang="en-IN" sz="1400" dirty="0" err="1">
                <a:solidFill>
                  <a:schemeClr val="bg1"/>
                </a:solidFill>
                <a:latin typeface="Aptos"/>
                <a:ea typeface="+mn-lt"/>
                <a:cs typeface="+mn-lt"/>
              </a:rPr>
              <a:t>RaceDesc</a:t>
            </a:r>
            <a:r>
              <a:rPr lang="en-IN" sz="1400" dirty="0">
                <a:solidFill>
                  <a:schemeClr val="bg1"/>
                </a:solidFill>
                <a:latin typeface="Aptos"/>
                <a:ea typeface="+mn-lt"/>
                <a:cs typeface="+mn-lt"/>
              </a:rPr>
              <a:t>, </a:t>
            </a:r>
            <a:r>
              <a:rPr lang="en-IN" sz="1400" dirty="0" err="1">
                <a:solidFill>
                  <a:schemeClr val="bg1"/>
                </a:solidFill>
                <a:latin typeface="Aptos"/>
                <a:ea typeface="+mn-lt"/>
                <a:cs typeface="+mn-lt"/>
              </a:rPr>
              <a:t>GenderID</a:t>
            </a:r>
            <a:endParaRPr lang="en-US" sz="1400" dirty="0">
              <a:solidFill>
                <a:schemeClr val="bg1"/>
              </a:solidFill>
              <a:latin typeface="Aptos"/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sz="950" dirty="0">
              <a:solidFill>
                <a:schemeClr val="bg1"/>
              </a:solidFill>
            </a:endParaRPr>
          </a:p>
        </p:txBody>
      </p:sp>
      <p:cxnSp>
        <p:nvCxnSpPr>
          <p:cNvPr id="35" name="Straight Arrow Connector 1">
            <a:extLst>
              <a:ext uri="{FF2B5EF4-FFF2-40B4-BE49-F238E27FC236}">
                <a16:creationId xmlns:a16="http://schemas.microsoft.com/office/drawing/2014/main" id="{9494045E-1BCC-0ECD-F40F-C632C2150354}"/>
              </a:ext>
            </a:extLst>
          </p:cNvPr>
          <p:cNvCxnSpPr/>
          <p:nvPr/>
        </p:nvCxnSpPr>
        <p:spPr>
          <a:xfrm>
            <a:off x="3603415" y="3905402"/>
            <a:ext cx="223131" cy="11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">
            <a:extLst>
              <a:ext uri="{FF2B5EF4-FFF2-40B4-BE49-F238E27FC236}">
                <a16:creationId xmlns:a16="http://schemas.microsoft.com/office/drawing/2014/main" id="{9ED2C472-658C-3260-CA5D-15CE1F5610C6}"/>
              </a:ext>
            </a:extLst>
          </p:cNvPr>
          <p:cNvCxnSpPr>
            <a:cxnSpLocks/>
          </p:cNvCxnSpPr>
          <p:nvPr/>
        </p:nvCxnSpPr>
        <p:spPr>
          <a:xfrm>
            <a:off x="3460542" y="4273065"/>
            <a:ext cx="366004" cy="2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AXIS 2 — ETHICS AI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33155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 audit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Gender  (M vs F)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Ethnicity  (White vs others)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98080" y="477316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84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Speaker 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26E34F77-D02B-73E6-7CA3-316B7A72B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87626"/>
            <a:ext cx="5177790" cy="862965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9FD0315F-A794-0617-A43D-73A02D392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37" y="3126680"/>
            <a:ext cx="5208814" cy="828100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1563156A-CBC7-92C1-71BD-0910E4A706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41"/>
          <a:stretch>
            <a:fillRect/>
          </a:stretch>
        </p:blipFill>
        <p:spPr>
          <a:xfrm>
            <a:off x="5701057" y="1227664"/>
            <a:ext cx="3300763" cy="3031071"/>
          </a:xfrm>
          <a:prstGeom prst="rect">
            <a:avLst/>
          </a:prstGeom>
        </p:spPr>
      </p:pic>
      <p:sp>
        <p:nvSpPr>
          <p:cNvPr id="42" name="Text 1">
            <a:extLst>
              <a:ext uri="{FF2B5EF4-FFF2-40B4-BE49-F238E27FC236}">
                <a16:creationId xmlns:a16="http://schemas.microsoft.com/office/drawing/2014/main" id="{2F1E7696-5614-9F20-37CE-EB534906779F}"/>
              </a:ext>
            </a:extLst>
          </p:cNvPr>
          <p:cNvSpPr/>
          <p:nvPr/>
        </p:nvSpPr>
        <p:spPr>
          <a:xfrm>
            <a:off x="5645604" y="548640"/>
            <a:ext cx="33155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Shap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0F4F8"/>
                </a:solidFill>
              </a:rPr>
              <a:t>The application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503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363931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app.py  →  http://localhost:8501</a:t>
            </a:r>
            <a:endParaRPr lang="en-US" sz="13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766D100A-8D38-17AF-5262-40A5EE278B8A}"/>
              </a:ext>
            </a:extLst>
          </p:cNvPr>
          <p:cNvSpPr/>
          <p:nvPr/>
        </p:nvSpPr>
        <p:spPr>
          <a:xfrm>
            <a:off x="301752" y="950976"/>
            <a:ext cx="1572768" cy="2514600"/>
          </a:xfrm>
          <a:prstGeom prst="rect">
            <a:avLst/>
          </a:prstGeom>
          <a:solidFill>
            <a:srgbClr val="142233"/>
          </a:solidFill>
          <a:ln w="10160">
            <a:solidFill>
              <a:srgbClr val="1B6CA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DCA0F96F-9DCC-003D-349B-BE4ED3091AE3}"/>
              </a:ext>
            </a:extLst>
          </p:cNvPr>
          <p:cNvSpPr/>
          <p:nvPr/>
        </p:nvSpPr>
        <p:spPr>
          <a:xfrm>
            <a:off x="301752" y="950976"/>
            <a:ext cx="1572768" cy="45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A55A025-EBD4-EF07-7028-D35B625EC525}"/>
              </a:ext>
            </a:extLst>
          </p:cNvPr>
          <p:cNvSpPr/>
          <p:nvPr/>
        </p:nvSpPr>
        <p:spPr>
          <a:xfrm>
            <a:off x="301752" y="10607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DF989259-9FFD-6046-9A5A-7628705DBA71}"/>
              </a:ext>
            </a:extLst>
          </p:cNvPr>
          <p:cNvSpPr/>
          <p:nvPr/>
        </p:nvSpPr>
        <p:spPr>
          <a:xfrm>
            <a:off x="374904" y="165506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A663E921-B0A6-A80E-A586-05ED610EE644}"/>
              </a:ext>
            </a:extLst>
          </p:cNvPr>
          <p:cNvSpPr/>
          <p:nvPr/>
        </p:nvSpPr>
        <p:spPr>
          <a:xfrm>
            <a:off x="374904" y="2139696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Risk scores · RF vs NLP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Top 10 at-risk employees</a:t>
            </a:r>
            <a:endParaRPr lang="en-US" sz="85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B6CDA1C9-4339-5F2A-95A8-12D7441118EB}"/>
              </a:ext>
            </a:extLst>
          </p:cNvPr>
          <p:cNvSpPr/>
          <p:nvPr/>
        </p:nvSpPr>
        <p:spPr>
          <a:xfrm>
            <a:off x="2039112" y="950976"/>
            <a:ext cx="1572768" cy="2514600"/>
          </a:xfrm>
          <a:prstGeom prst="rect">
            <a:avLst/>
          </a:prstGeom>
          <a:solidFill>
            <a:srgbClr val="142233"/>
          </a:solidFill>
          <a:ln w="1016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F440010E-DCF8-F719-108A-10C475C96005}"/>
              </a:ext>
            </a:extLst>
          </p:cNvPr>
          <p:cNvSpPr/>
          <p:nvPr/>
        </p:nvSpPr>
        <p:spPr>
          <a:xfrm>
            <a:off x="2039112" y="950976"/>
            <a:ext cx="1572768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D48EED38-75EB-37FB-EA9E-2F729A252E71}"/>
              </a:ext>
            </a:extLst>
          </p:cNvPr>
          <p:cNvSpPr/>
          <p:nvPr/>
        </p:nvSpPr>
        <p:spPr>
          <a:xfrm>
            <a:off x="2039112" y="10607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EA328DC7-3C9B-7F3F-42D3-899B8AF19C30}"/>
              </a:ext>
            </a:extLst>
          </p:cNvPr>
          <p:cNvSpPr/>
          <p:nvPr/>
        </p:nvSpPr>
        <p:spPr>
          <a:xfrm>
            <a:off x="2112264" y="165506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Individual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analysis</a:t>
            </a:r>
            <a:endParaRPr lang="en-US" sz="10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F3C0E8AB-AFAC-FC63-EF17-94B114E99B3F}"/>
              </a:ext>
            </a:extLst>
          </p:cNvPr>
          <p:cNvSpPr/>
          <p:nvPr/>
        </p:nvSpPr>
        <p:spPr>
          <a:xfrm>
            <a:off x="2112264" y="2139696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SHAP waterfall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Auto HR recommendation</a:t>
            </a:r>
            <a:endParaRPr lang="en-US" sz="85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637589A4-55C3-88B5-69A5-8B6C9935B315}"/>
              </a:ext>
            </a:extLst>
          </p:cNvPr>
          <p:cNvSpPr/>
          <p:nvPr/>
        </p:nvSpPr>
        <p:spPr>
          <a:xfrm>
            <a:off x="3776472" y="950976"/>
            <a:ext cx="1572768" cy="2514600"/>
          </a:xfrm>
          <a:prstGeom prst="rect">
            <a:avLst/>
          </a:prstGeom>
          <a:solidFill>
            <a:srgbClr val="142233"/>
          </a:solidFill>
          <a:ln w="1016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EC9023D1-41B1-ED7C-3A42-B663AD3043B9}"/>
              </a:ext>
            </a:extLst>
          </p:cNvPr>
          <p:cNvSpPr/>
          <p:nvPr/>
        </p:nvSpPr>
        <p:spPr>
          <a:xfrm>
            <a:off x="3776472" y="950976"/>
            <a:ext cx="15727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28F19074-2024-70F0-7DC0-761808ED9820}"/>
              </a:ext>
            </a:extLst>
          </p:cNvPr>
          <p:cNvSpPr/>
          <p:nvPr/>
        </p:nvSpPr>
        <p:spPr>
          <a:xfrm>
            <a:off x="3776472" y="10607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877B821D-99A6-AC22-4741-6EC3300C5ABA}"/>
              </a:ext>
            </a:extLst>
          </p:cNvPr>
          <p:cNvSpPr/>
          <p:nvPr/>
        </p:nvSpPr>
        <p:spPr>
          <a:xfrm>
            <a:off x="3849624" y="165506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Fairness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audit</a:t>
            </a:r>
            <a:endParaRPr lang="en-US" sz="10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D6567D79-0782-40CE-2CB2-AF2D632FF638}"/>
              </a:ext>
            </a:extLst>
          </p:cNvPr>
          <p:cNvSpPr/>
          <p:nvPr/>
        </p:nvSpPr>
        <p:spPr>
          <a:xfrm>
            <a:off x="3849624" y="2139696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AIF360 metrics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Gender &amp; ethnicity</a:t>
            </a:r>
            <a:endParaRPr lang="en-US" sz="85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AB4220EA-19C7-782F-6C32-5D7ACCC3627C}"/>
              </a:ext>
            </a:extLst>
          </p:cNvPr>
          <p:cNvSpPr/>
          <p:nvPr/>
        </p:nvSpPr>
        <p:spPr>
          <a:xfrm>
            <a:off x="5513832" y="950976"/>
            <a:ext cx="1572768" cy="2514600"/>
          </a:xfrm>
          <a:prstGeom prst="rect">
            <a:avLst/>
          </a:prstGeom>
          <a:solidFill>
            <a:srgbClr val="142233"/>
          </a:solidFill>
          <a:ln w="1016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8D9A30E8-9380-F931-290A-1020C3047A13}"/>
              </a:ext>
            </a:extLst>
          </p:cNvPr>
          <p:cNvSpPr/>
          <p:nvPr/>
        </p:nvSpPr>
        <p:spPr>
          <a:xfrm>
            <a:off x="5513832" y="950976"/>
            <a:ext cx="157276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366F0564-C9C9-F60F-88C8-304A37A4DED6}"/>
              </a:ext>
            </a:extLst>
          </p:cNvPr>
          <p:cNvSpPr/>
          <p:nvPr/>
        </p:nvSpPr>
        <p:spPr>
          <a:xfrm>
            <a:off x="5513832" y="10607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8FEE9E04-CF06-1881-E2B4-EE730BC55D37}"/>
              </a:ext>
            </a:extLst>
          </p:cNvPr>
          <p:cNvSpPr/>
          <p:nvPr/>
        </p:nvSpPr>
        <p:spPr>
          <a:xfrm>
            <a:off x="5586984" y="165506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Security</a:t>
            </a:r>
            <a:endParaRPr lang="en-US" sz="10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E5CDC994-494B-7213-8156-2E8BAF7C3FCE}"/>
              </a:ext>
            </a:extLst>
          </p:cNvPr>
          <p:cNvSpPr/>
          <p:nvPr/>
        </p:nvSpPr>
        <p:spPr>
          <a:xfrm>
            <a:off x="5586984" y="2139696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Input validation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Attack simulation</a:t>
            </a:r>
            <a:endParaRPr lang="en-US" sz="850" dirty="0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31C453F8-D013-2C07-D7FC-AAA554CDD088}"/>
              </a:ext>
            </a:extLst>
          </p:cNvPr>
          <p:cNvSpPr/>
          <p:nvPr/>
        </p:nvSpPr>
        <p:spPr>
          <a:xfrm>
            <a:off x="7251192" y="950976"/>
            <a:ext cx="1572768" cy="2514600"/>
          </a:xfrm>
          <a:prstGeom prst="rect">
            <a:avLst/>
          </a:prstGeom>
          <a:solidFill>
            <a:srgbClr val="142233"/>
          </a:solidFill>
          <a:ln w="1016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2D601F1E-4B58-4FA6-B265-C7C1F7ACAF3A}"/>
              </a:ext>
            </a:extLst>
          </p:cNvPr>
          <p:cNvSpPr/>
          <p:nvPr/>
        </p:nvSpPr>
        <p:spPr>
          <a:xfrm>
            <a:off x="7251192" y="950976"/>
            <a:ext cx="1572768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9498D4A8-3C59-D570-55CD-36E87805DC60}"/>
              </a:ext>
            </a:extLst>
          </p:cNvPr>
          <p:cNvSpPr/>
          <p:nvPr/>
        </p:nvSpPr>
        <p:spPr>
          <a:xfrm>
            <a:off x="7251192" y="10607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846640CF-9CFB-189D-878D-6667FC93EBDE}"/>
              </a:ext>
            </a:extLst>
          </p:cNvPr>
          <p:cNvSpPr/>
          <p:nvPr/>
        </p:nvSpPr>
        <p:spPr>
          <a:xfrm>
            <a:off x="7324344" y="165506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Risk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simulator</a:t>
            </a:r>
            <a:endParaRPr lang="en-US" sz="10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45F639E5-1119-A10A-2741-917EEAE2B344}"/>
              </a:ext>
            </a:extLst>
          </p:cNvPr>
          <p:cNvSpPr/>
          <p:nvPr/>
        </p:nvSpPr>
        <p:spPr>
          <a:xfrm>
            <a:off x="7324344" y="2139696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5 sliders → live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499"/>
                </a:solidFill>
              </a:rPr>
              <a:t>Frugal model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439</Words>
  <Application>Microsoft Office PowerPoint</Application>
  <PresentationFormat>Affichage à l'écran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Consolas</vt:lpstr>
      <vt:lpstr>Neue Haas Grotesk Text Pro</vt:lpstr>
      <vt:lpstr>DylanVTI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TalentGuard AI — Hackathon Trusted AI x RH</dc:title>
  <dc:subject>PptxGenJS Presentation</dc:subject>
  <dc:creator>PptxGenJS</dc:creator>
  <cp:lastModifiedBy>antonin Ronseray</cp:lastModifiedBy>
  <cp:revision>4</cp:revision>
  <dcterms:created xsi:type="dcterms:W3CDTF">2026-03-16T20:32:48Z</dcterms:created>
  <dcterms:modified xsi:type="dcterms:W3CDTF">2026-03-17T10:25:30Z</dcterms:modified>
</cp:coreProperties>
</file>